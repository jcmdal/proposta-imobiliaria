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72843c7-3e7d-b983-16d6-c7694680da6a}">
          <p14:sldIdLst>
            <p14:sldId id="256"/>
          </p14:sldIdLst>
        </p14:section>
        <p14:section name="Por que" id="{b2d13247-cf6d-8779-6fee-ef67b559799c}">
          <p14:sldIdLst>
            <p14:sldId id="257"/>
          </p14:sldIdLst>
        </p14:section>
        <p14:section name="A solução" id="{969a1aeb-b4ee-a8af-79d4-0a23ae048425}">
          <p14:sldIdLst>
            <p14:sldId id="258"/>
            <p14:sldId id="259"/>
            <p14:sldId id="260"/>
          </p14:sldIdLst>
        </p14:section>
        <p14:section name="Como funciona" id="{58b0d505-0142-52ab-fe91-c880cce1e416}">
          <p14:sldIdLst>
            <p14:sldId id="261"/>
          </p14:sldIdLst>
        </p14:section>
        <p14:section name="Investimento" id="{d1af45e4-8b12-23b2-a219-ad06ac91cbe2}">
          <p14:sldIdLst>
            <p14:sldId id="262"/>
            <p14:sldId id="265"/>
            <p14:sldId id="263"/>
          </p14:sldIdLst>
        </p14:section>
        <p14:section name="Próximo passo" id="{602a91cc-44e1-c46a-e31c-71d5dcd847f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agradecendo o retorno positivo sobre a demonstração. Objetivo da call: alinhar o empreendimento e fechar o valor. Dica: deixe ele falar primeiro sobre o que mais gostou na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Pergunte: qual dessas dores é a maior para você hoje? A resposta ajuda a defender o valor mais à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compartilhe a tela com a demo aberta e clique numa janela ao vivo. Lembre: dados fictícios; na versão dele entra o empreendimento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o lead já chega decidido. Em vez de "quanto custa?", ele chega dizendo "quero a 1201".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quarto ponto costuma pesar: a página vira portfólio para ele captar o próximo lançamento com a construtora.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que o prazo começa quando o material chega. Pergunte se ele já tem tabela, plantas e fotos em mãos.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com calma e pare. Deixe ele reagir antes de falar. Se perguntar se vale a pena, compare com a comissão de uma única venda que a página ajude a fechar. Não dê desconto antes de entender o tamanho do empreendimento.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como roteiro: faça as perguntas e anote. Com as respostas, feche o valor ali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pedindo o material com data: "Consegue me mandar a tabela e as plantas até quando?". Combine no WhatsApp logo depois da call e coloque o follow-up na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rgbClr val="0F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063240"/>
            <a:ext cx="4023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1EA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escuro">
    <p:bg>
      <p:bgPr>
        <a:solidFill>
          <a:srgbClr val="0F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· OUTUBRO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tabela de vendas, </a:t>
            </a:r>
            <a:pPr algn="l" indent="0" marL="0">
              <a:buNone/>
            </a:pPr>
            <a:r>
              <a:rPr lang="en-US" sz="34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por janela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EA"/>
                </a:solidFill>
              </a:rPr>
              <a:t>Landing page com tabela de vendas em 3D para o Leonardo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00" dirty="0"/>
          </a:p>
        </p:txBody>
      </p:sp>
      <p:pic>
        <p:nvPicPr>
          <p:cNvPr id="6" name="demo-desktop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68680"/>
            <a:ext cx="4023360" cy="24587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Hoje, o PDF da tabela trabalha contra você</a:t>
            </a:r>
            <a:endParaRPr lang="en-US" sz="3000" dirty="0"/>
          </a:p>
        </p:txBody>
      </p:sp>
      <p:sp>
        <p:nvSpPr>
          <p:cNvPr id="3" name="dor-card-0"/>
          <p:cNvSpPr/>
          <p:nvPr/>
        </p:nvSpPr>
        <p:spPr>
          <a:xfrm>
            <a:off x="457200" y="132588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</p:sp>
      <p:sp>
        <p:nvSpPr>
          <p:cNvPr id="4" name="dor-0-circle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or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que chega frio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“Quanto custa?”, “ainda tem?”. Você perde tempo repetindo informação antes de falar de venda.</a:t>
            </a:r>
            <a:endParaRPr lang="en-US" sz="1400" dirty="0"/>
          </a:p>
        </p:txBody>
      </p:sp>
      <p:sp>
        <p:nvSpPr>
          <p:cNvPr id="8" name="dor-card-1"/>
          <p:cNvSpPr/>
          <p:nvPr/>
        </p:nvSpPr>
        <p:spPr>
          <a:xfrm>
            <a:off x="3264408" y="132588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</p:sp>
      <p:sp>
        <p:nvSpPr>
          <p:cNvPr id="9" name="dor-1-circle"/>
          <p:cNvSpPr/>
          <p:nvPr/>
        </p:nvSpPr>
        <p:spPr>
          <a:xfrm>
            <a:off x="3538728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or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desatualizada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 uma unidade e o PDF antigo continua circulando nos grupos e no WhatsApp.</a:t>
            </a:r>
            <a:endParaRPr lang="en-US" sz="1400" dirty="0"/>
          </a:p>
        </p:txBody>
      </p:sp>
      <p:sp>
        <p:nvSpPr>
          <p:cNvPr id="13" name="dor-card-2"/>
          <p:cNvSpPr/>
          <p:nvPr/>
        </p:nvSpPr>
        <p:spPr>
          <a:xfrm>
            <a:off x="6071616" y="1325880"/>
            <a:ext cx="2615184" cy="31089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/>
        </p:spPr>
      </p:sp>
      <p:sp>
        <p:nvSpPr>
          <p:cNvPr id="14" name="dor-2-circle"/>
          <p:cNvSpPr/>
          <p:nvPr/>
        </p:nvSpPr>
        <p:spPr>
          <a:xfrm>
            <a:off x="6345936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or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1748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Comprador de longe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compra na Região dos Lagos muitas vezes pesquisa do Rio e não vem ao plantão só para ver a tabela.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cliente escolhe o imóvel pela janela</a:t>
            </a:r>
            <a:endParaRPr lang="en-US" sz="3000" dirty="0"/>
          </a:p>
        </p:txBody>
      </p:sp>
      <p:pic>
        <p:nvPicPr>
          <p:cNvPr id="3" name="demo-desktop-grande" descr="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129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97880" y="1325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Clicou na janela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897880" y="1691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unidade, metragem, andar e posição do sol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350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na hora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tabela e fluxo de pagamento completo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33741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Vendeu, apagou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73989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escurece e o % vendido sobe sozinho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anúncio direto para o seu WhatsApp</a:t>
            </a:r>
            <a:endParaRPr lang="en-US" sz="3000" dirty="0"/>
          </a:p>
        </p:txBody>
      </p:sp>
      <p:pic>
        <p:nvPicPr>
          <p:cNvPr id="3" name="demo-mobile" descr="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206338" cy="3291840"/>
          </a:xfrm>
          <a:prstGeom prst="rect">
            <a:avLst/>
          </a:prstGeom>
        </p:spPr>
      </p:pic>
      <p:sp>
        <p:nvSpPr>
          <p:cNvPr id="4" name="passo-num-bg-0"/>
          <p:cNvSpPr/>
          <p:nvPr/>
        </p:nvSpPr>
        <p:spPr>
          <a:xfrm>
            <a:off x="3977640" y="1280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977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2618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Clica no anúncio do Instagram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627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abre no celular com o prédio no topo.</a:t>
            </a:r>
            <a:endParaRPr lang="en-US" sz="1400" dirty="0"/>
          </a:p>
        </p:txBody>
      </p:sp>
      <p:sp>
        <p:nvSpPr>
          <p:cNvPr id="8" name="passo-num-bg-1"/>
          <p:cNvSpPr/>
          <p:nvPr/>
        </p:nvSpPr>
        <p:spPr>
          <a:xfrm>
            <a:off x="3977640" y="2359152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977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3408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 a unidade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7066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preço e condições sem precisar te perguntar.</a:t>
            </a:r>
            <a:endParaRPr lang="en-US" sz="1400" dirty="0"/>
          </a:p>
        </p:txBody>
      </p:sp>
      <p:sp>
        <p:nvSpPr>
          <p:cNvPr id="12" name="passo-num-bg-2"/>
          <p:cNvSpPr/>
          <p:nvPr/>
        </p:nvSpPr>
        <p:spPr>
          <a:xfrm>
            <a:off x="3977640" y="343814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97764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419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Mensagem pronta no seu WhatsApp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785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com nome, telefone, unidade e valor.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ganha</a:t>
            </a:r>
            <a:endParaRPr lang="en-US" sz="3000" dirty="0"/>
          </a:p>
        </p:txBody>
      </p:sp>
      <p:sp>
        <p:nvSpPr>
          <p:cNvPr id="3" name="ganho-0-circle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ganho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8303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07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que já chega decidido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581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telefone, unidade e valor na primeira mensagem.</a:t>
            </a:r>
            <a:endParaRPr lang="en-US" sz="1400" dirty="0"/>
          </a:p>
        </p:txBody>
      </p:sp>
      <p:sp>
        <p:nvSpPr>
          <p:cNvPr id="7" name="ganho-1-circle"/>
          <p:cNvSpPr/>
          <p:nvPr/>
        </p:nvSpPr>
        <p:spPr>
          <a:xfrm>
            <a:off x="4663440" y="1234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ganho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13830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207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Atende quem compra de longe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1581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visível sem depender de visita ou plantão.</a:t>
            </a:r>
            <a:endParaRPr lang="en-US" sz="1400" dirty="0"/>
          </a:p>
        </p:txBody>
      </p:sp>
      <p:sp>
        <p:nvSpPr>
          <p:cNvPr id="11" name="ganho-2-circle"/>
          <p:cNvSpPr/>
          <p:nvPr/>
        </p:nvSpPr>
        <p:spPr>
          <a:xfrm>
            <a:off x="457200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ganho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280035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sempre certa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2999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PDF desatualizado circulando por aí.</a:t>
            </a:r>
            <a:endParaRPr lang="en-US" sz="1400" dirty="0"/>
          </a:p>
        </p:txBody>
      </p:sp>
      <p:sp>
        <p:nvSpPr>
          <p:cNvPr id="15" name="ganho-3-circle"/>
          <p:cNvSpPr/>
          <p:nvPr/>
        </p:nvSpPr>
        <p:spPr>
          <a:xfrm>
            <a:off x="4663440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anho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80035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2624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 para captar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440680" y="2999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para mostrar à construtora e ganhar lançamentos.</a:t>
            </a:r>
            <a:endParaRPr lang="en-US" sz="1400" dirty="0"/>
          </a:p>
        </p:txBody>
      </p:sp>
      <p:sp>
        <p:nvSpPr>
          <p:cNvPr id="19" name="nota-casas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ou lotes?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ideia funciona com o mapa do condomínio no lugar do prédio.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do papo à página no ar</a:t>
            </a:r>
            <a:endParaRPr lang="en-US" sz="3000" dirty="0"/>
          </a:p>
        </p:txBody>
      </p:sp>
      <p:sp>
        <p:nvSpPr>
          <p:cNvPr id="3" name="linha-tempo"/>
          <p:cNvSpPr/>
          <p:nvPr/>
        </p:nvSpPr>
        <p:spPr>
          <a:xfrm>
            <a:off x="914400" y="1828800"/>
            <a:ext cx="7315200" cy="0"/>
          </a:xfrm>
          <a:prstGeom prst="line">
            <a:avLst/>
          </a:prstGeom>
          <a:noFill/>
          <a:ln w="25400">
            <a:solidFill>
              <a:srgbClr val="C9D1EA"/>
            </a:solidFill>
            <a:prstDash val="solid"/>
          </a:ln>
        </p:spPr>
      </p:sp>
      <p:sp>
        <p:nvSpPr>
          <p:cNvPr id="4" name="etapa-pt-0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 de 20 min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Entendo o empreendimento e onde você vai divulgar.</a:t>
            </a:r>
            <a:endParaRPr lang="en-US" sz="1400" dirty="0"/>
          </a:p>
        </p:txBody>
      </p:sp>
      <p:sp>
        <p:nvSpPr>
          <p:cNvPr id="9" name="etapa-pt-1"/>
          <p:cNvSpPr/>
          <p:nvPr/>
        </p:nvSpPr>
        <p:spPr>
          <a:xfrm>
            <a:off x="3447288" y="15544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DIAS ÚTEIS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para testar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até 10 dias úteis após receber tabela, plantas e fotos.</a:t>
            </a:r>
            <a:endParaRPr lang="en-US" sz="1400" dirty="0"/>
          </a:p>
        </p:txBody>
      </p:sp>
      <p:sp>
        <p:nvSpPr>
          <p:cNvPr id="14" name="etapa-pt-2"/>
          <p:cNvSpPr/>
          <p:nvPr/>
        </p:nvSpPr>
        <p:spPr>
          <a:xfrm>
            <a:off x="6254496" y="15544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MÊS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e publicação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 e mantenho a tabela atualizada todo mês.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Investimento: um plano mensal, sem surpresa</a:t>
            </a:r>
            <a:endParaRPr lang="en-US" sz="3000" dirty="0"/>
          </a:p>
        </p:txBody>
      </p:sp>
      <p:sp>
        <p:nvSpPr>
          <p:cNvPr id="3" name="preco-card-0"/>
          <p:cNvSpPr/>
          <p:nvPr/>
        </p:nvSpPr>
        <p:spPr>
          <a:xfrm>
            <a:off x="457200" y="128016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R$ 690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vez, para colocar a página no ar</a:t>
            </a:r>
            <a:endParaRPr lang="en-US" sz="1400" dirty="0"/>
          </a:p>
        </p:txBody>
      </p:sp>
      <p:sp>
        <p:nvSpPr>
          <p:cNvPr id="8" name="preco-card-1"/>
          <p:cNvSpPr/>
          <p:nvPr/>
        </p:nvSpPr>
        <p:spPr>
          <a:xfrm>
            <a:off x="3264408" y="128016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38728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R$ 390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mês: hospedagem, atualização da tabela e suporte</a:t>
            </a:r>
            <a:endParaRPr lang="en-US" sz="1400" dirty="0"/>
          </a:p>
        </p:txBody>
      </p:sp>
      <p:sp>
        <p:nvSpPr>
          <p:cNvPr id="13" name="preco-card-2"/>
          <p:cNvSpPr/>
          <p:nvPr/>
        </p:nvSpPr>
        <p:spPr>
          <a:xfrm>
            <a:off x="6071616" y="1280160"/>
            <a:ext cx="2615184" cy="2743200"/>
          </a:xfrm>
          <a:prstGeom prst="roundRect">
            <a:avLst>
              <a:gd name="adj" fmla="val 4196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LANÇAMENTO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R$ 390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implantação + R$ 190/mês, no mesmo plano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final depende do tamanho do empreendimento: número de unidades e se é prédio, casas ou lotes.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A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fechar o seu valor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respostas e eu te passo o número final nesta call, antes de qualquer compromisso.</a:t>
            </a:r>
            <a:endParaRPr lang="en-US" sz="1500" dirty="0"/>
          </a:p>
        </p:txBody>
      </p:sp>
      <p:sp>
        <p:nvSpPr>
          <p:cNvPr id="4" name="pergunta-card-0"/>
          <p:cNvSpPr/>
          <p:nvPr/>
        </p:nvSpPr>
        <p:spPr>
          <a:xfrm>
            <a:off x="457200" y="169164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5" name="pergunta-0-circle"/>
          <p:cNvSpPr/>
          <p:nvPr/>
        </p:nvSpPr>
        <p:spPr>
          <a:xfrm>
            <a:off x="68580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ergunta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empreendimento?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construtora e estágio (lançamento ou pronto).</a:t>
            </a:r>
            <a:endParaRPr lang="en-US" sz="1400" dirty="0"/>
          </a:p>
        </p:txBody>
      </p:sp>
      <p:sp>
        <p:nvSpPr>
          <p:cNvPr id="9" name="pergunta-card-1"/>
          <p:cNvSpPr/>
          <p:nvPr/>
        </p:nvSpPr>
        <p:spPr>
          <a:xfrm>
            <a:off x="4663440" y="169164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pergunta-1-circle"/>
          <p:cNvSpPr/>
          <p:nvPr/>
        </p:nvSpPr>
        <p:spPr>
          <a:xfrm>
            <a:off x="489204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ergunta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21145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unidades?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quantas ainda estão disponíveis.</a:t>
            </a:r>
            <a:endParaRPr lang="en-US" sz="1400" dirty="0"/>
          </a:p>
        </p:txBody>
      </p:sp>
      <p:sp>
        <p:nvSpPr>
          <p:cNvPr id="14" name="pergunta-card-2"/>
          <p:cNvSpPr/>
          <p:nvPr/>
        </p:nvSpPr>
        <p:spPr>
          <a:xfrm>
            <a:off x="457200" y="301752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5" name="pergunta-2-circle"/>
          <p:cNvSpPr/>
          <p:nvPr/>
        </p:nvSpPr>
        <p:spPr>
          <a:xfrm>
            <a:off x="685800" y="3291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ergunta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4404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Prédio, casas ou lotes?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 usamos o prédio 3D ou o mapa.</a:t>
            </a:r>
            <a:endParaRPr lang="en-US" sz="1400" dirty="0"/>
          </a:p>
        </p:txBody>
      </p:sp>
      <p:sp>
        <p:nvSpPr>
          <p:cNvPr id="19" name="pergunta-card-3"/>
          <p:cNvSpPr/>
          <p:nvPr/>
        </p:nvSpPr>
        <p:spPr>
          <a:xfrm>
            <a:off x="4663440" y="301752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0" name="pergunta-3-circle"/>
          <p:cNvSpPr/>
          <p:nvPr/>
        </p:nvSpPr>
        <p:spPr>
          <a:xfrm>
            <a:off x="4892040" y="3291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ergunta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34404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vai divulgar?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5661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portais, grupos, tráfego pago.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Fechamos o valor e a página fica pronta em </a:t>
            </a:r>
            <a:pPr algn="l" indent="0" marL="0">
              <a:buNone/>
            </a:pPr>
            <a:r>
              <a:rPr lang="en-US" sz="34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10 dias úteis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EA"/>
                </a:solidFill>
              </a:rPr>
              <a:t>Contados a partir do recebimento do material.</a:t>
            </a:r>
            <a:endParaRPr lang="en-US" sz="1500" dirty="0"/>
          </a:p>
        </p:txBody>
      </p:sp>
      <p:sp>
        <p:nvSpPr>
          <p:cNvPr id="5" name="prox-card-0"/>
          <p:cNvSpPr/>
          <p:nvPr/>
        </p:nvSpPr>
        <p:spPr>
          <a:xfrm>
            <a:off x="4937760" y="118872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</p:spPr>
      </p:sp>
      <p:sp>
        <p:nvSpPr>
          <p:cNvPr id="6" name="prox-0-circle"/>
          <p:cNvSpPr/>
          <p:nvPr/>
        </p:nvSpPr>
        <p:spPr>
          <a:xfrm>
            <a:off x="5120640" y="13441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rox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52160" y="1307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o valor final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call</a:t>
            </a:r>
            <a:endParaRPr lang="en-US" sz="1400" dirty="0"/>
          </a:p>
        </p:txBody>
      </p:sp>
      <p:sp>
        <p:nvSpPr>
          <p:cNvPr id="10" name="prox-card-1"/>
          <p:cNvSpPr/>
          <p:nvPr/>
        </p:nvSpPr>
        <p:spPr>
          <a:xfrm>
            <a:off x="4937760" y="224028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</p:spPr>
      </p:sp>
      <p:sp>
        <p:nvSpPr>
          <p:cNvPr id="11" name="prox-1-circle"/>
          <p:cNvSpPr/>
          <p:nvPr/>
        </p:nvSpPr>
        <p:spPr>
          <a:xfrm>
            <a:off x="5120640" y="23957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rox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5328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2359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me envia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tabela, plantas e fotos</a:t>
            </a:r>
            <a:endParaRPr lang="en-US" sz="1400" dirty="0"/>
          </a:p>
        </p:txBody>
      </p:sp>
      <p:sp>
        <p:nvSpPr>
          <p:cNvPr id="15" name="prox-card-2"/>
          <p:cNvSpPr/>
          <p:nvPr/>
        </p:nvSpPr>
        <p:spPr>
          <a:xfrm>
            <a:off x="4937760" y="329184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</p:spPr>
      </p:sp>
      <p:sp>
        <p:nvSpPr>
          <p:cNvPr id="16" name="prox-2-circle"/>
          <p:cNvSpPr/>
          <p:nvPr/>
        </p:nvSpPr>
        <p:spPr>
          <a:xfrm>
            <a:off x="5120640" y="34472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rox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5844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52160" y="3410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para testar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852160" y="3749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depois publicada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Mensalid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sua mensalidade cobre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técnica já vem pronta. O que faz a página vender todo mês é o trabalho por trás dela.</a:t>
            </a:r>
            <a:endParaRPr lang="en-US" sz="1500" dirty="0"/>
          </a:p>
        </p:txBody>
      </p:sp>
      <p:sp>
        <p:nvSpPr>
          <p:cNvPr id="31" name="incluso-card"/>
          <p:cNvSpPr/>
          <p:nvPr/>
        </p:nvSpPr>
        <p:spPr>
          <a:xfrm>
            <a:off x="457200" y="1600200"/>
            <a:ext cx="3108960" cy="27889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2" name="incluso-titulo"/>
          <p:cNvSpPr txBox="1"/>
          <p:nvPr/>
        </p:nvSpPr>
        <p:spPr>
          <a:xfrm>
            <a:off x="6858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INCLUSO, SEM CUSTO EXTRA</a:t>
            </a:r>
          </a:p>
        </p:txBody>
      </p:sp>
      <p:sp>
        <p:nvSpPr>
          <p:cNvPr id="33" name="incluso-0-dot"/>
          <p:cNvSpPr/>
          <p:nvPr/>
        </p:nvSpPr>
        <p:spPr>
          <a:xfrm>
            <a:off x="685800" y="2276856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incluso-0"/>
          <p:cNvSpPr txBox="1"/>
          <p:nvPr/>
        </p:nvSpPr>
        <p:spPr>
          <a:xfrm>
            <a:off x="9601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no seu nome</a:t>
            </a:r>
          </a:p>
        </p:txBody>
      </p:sp>
      <p:sp>
        <p:nvSpPr>
          <p:cNvPr id="35" name="incluso-1-dot"/>
          <p:cNvSpPr/>
          <p:nvPr/>
        </p:nvSpPr>
        <p:spPr>
          <a:xfrm>
            <a:off x="685800" y="2697480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incluso-1"/>
          <p:cNvSpPr txBox="1"/>
          <p:nvPr/>
        </p:nvSpPr>
        <p:spPr>
          <a:xfrm>
            <a:off x="96012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segurança</a:t>
            </a:r>
          </a:p>
        </p:txBody>
      </p:sp>
      <p:sp>
        <p:nvSpPr>
          <p:cNvPr id="37" name="incluso-2-dot"/>
          <p:cNvSpPr/>
          <p:nvPr/>
        </p:nvSpPr>
        <p:spPr>
          <a:xfrm>
            <a:off x="685800" y="3118104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incluso-2"/>
          <p:cNvSpPr txBox="1"/>
          <p:nvPr/>
        </p:nvSpPr>
        <p:spPr>
          <a:xfrm>
            <a:off x="96012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 3D, fotos e tabela no ar</a:t>
            </a:r>
          </a:p>
        </p:txBody>
      </p:sp>
      <p:sp>
        <p:nvSpPr>
          <p:cNvPr id="39" name="incluso-3-dot"/>
          <p:cNvSpPr/>
          <p:nvPr/>
        </p:nvSpPr>
        <p:spPr>
          <a:xfrm>
            <a:off x="685800" y="3538728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incluso-3"/>
          <p:cNvSpPr txBox="1"/>
          <p:nvPr/>
        </p:nvSpPr>
        <p:spPr>
          <a:xfrm>
            <a:off x="96012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WhatsApp e métricas</a:t>
            </a:r>
          </a:p>
        </p:txBody>
      </p:sp>
      <p:sp>
        <p:nvSpPr>
          <p:cNvPr id="41" name="incluso-nota"/>
          <p:cNvSpPr txBox="1"/>
          <p:nvPr/>
        </p:nvSpPr>
        <p:spPr>
          <a:xfrm>
            <a:off x="6858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é sua: se um dia sair do plano, o endereço continua com você.</a:t>
            </a:r>
          </a:p>
        </p:txBody>
      </p:sp>
      <p:sp>
        <p:nvSpPr>
          <p:cNvPr id="42" name="trabalho-card"/>
          <p:cNvSpPr/>
          <p:nvPr/>
        </p:nvSpPr>
        <p:spPr>
          <a:xfrm>
            <a:off x="3794760" y="1600200"/>
            <a:ext cx="4892040" cy="278892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43" name="trabalho-titulo"/>
          <p:cNvSpPr txBox="1"/>
          <p:nvPr/>
        </p:nvSpPr>
        <p:spPr>
          <a:xfrm>
            <a:off x="4069080" y="17830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DE TODO MÊS</a:t>
            </a:r>
          </a:p>
        </p:txBody>
      </p:sp>
      <p:sp>
        <p:nvSpPr>
          <p:cNvPr id="44" name="trabalho-0-dot"/>
          <p:cNvSpPr/>
          <p:nvPr/>
        </p:nvSpPr>
        <p:spPr>
          <a:xfrm>
            <a:off x="4069080" y="2276856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rabalho-0"/>
          <p:cNvSpPr txBox="1"/>
          <p:nvPr/>
        </p:nvSpPr>
        <p:spPr>
          <a:xfrm>
            <a:off x="4343400" y="2194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certa em até 1 dia útil após cada venda</a:t>
            </a:r>
          </a:p>
          <a:p>
            <a:pPr algn="l" indent="0" marL="0">
              <a:buNone/>
            </a:pPr>
            <a:r>
              <a:rPr lang="pt-BR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comprador clica numa unidade que já foi vendida.</a:t>
            </a:r>
          </a:p>
        </p:txBody>
      </p:sp>
      <p:sp>
        <p:nvSpPr>
          <p:cNvPr id="46" name="trabalho-1-dot"/>
          <p:cNvSpPr/>
          <p:nvPr/>
        </p:nvSpPr>
        <p:spPr>
          <a:xfrm>
            <a:off x="4069080" y="2807208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trabalho-1"/>
          <p:cNvSpPr txBox="1"/>
          <p:nvPr/>
        </p:nvSpPr>
        <p:spPr>
          <a:xfrm>
            <a:off x="4343400" y="27249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 fluxo de pagamento sempre atualizados</a:t>
            </a:r>
          </a:p>
          <a:p>
            <a:pPr algn="l" indent="0" marL="0">
              <a:buNone/>
            </a:pPr>
            <a:r>
              <a:rPr lang="pt-BR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a condição da construtora, a página muda junto.</a:t>
            </a:r>
          </a:p>
        </p:txBody>
      </p:sp>
      <p:sp>
        <p:nvSpPr>
          <p:cNvPr id="48" name="trabalho-2-dot"/>
          <p:cNvSpPr/>
          <p:nvPr/>
        </p:nvSpPr>
        <p:spPr>
          <a:xfrm>
            <a:off x="4069080" y="3337560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rabalho-2"/>
          <p:cNvSpPr txBox="1"/>
          <p:nvPr/>
        </p:nvSpPr>
        <p:spPr>
          <a:xfrm>
            <a:off x="4343400" y="325526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de resultados</a:t>
            </a:r>
          </a:p>
          <a:p>
            <a:pPr algn="l" indent="0" marL="0">
              <a:buNone/>
            </a:pPr>
            <a:r>
              <a:rPr lang="pt-BR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Visitas, unidades mais clicadas e leads do WhatsApp.</a:t>
            </a:r>
          </a:p>
        </p:txBody>
      </p:sp>
      <p:sp>
        <p:nvSpPr>
          <p:cNvPr id="50" name="trabalho-3-dot"/>
          <p:cNvSpPr/>
          <p:nvPr/>
        </p:nvSpPr>
        <p:spPr>
          <a:xfrm>
            <a:off x="4069080" y="3867912"/>
            <a:ext cx="137160" cy="137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trabalho-3"/>
          <p:cNvSpPr txBox="1"/>
          <p:nvPr/>
        </p:nvSpPr>
        <p:spPr>
          <a:xfrm>
            <a:off x="4343400" y="378561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direto comigo</a:t>
            </a:r>
          </a:p>
          <a:p>
            <a:pPr algn="l" indent="0" marL="0">
              <a:buNone/>
            </a:pPr>
            <a:r>
              <a:rPr lang="pt-BR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WhatsApp, sem chamado e sem fila.</a:t>
            </a:r>
          </a:p>
        </p:txBody>
      </p:sp>
      <p:sp>
        <p:nvSpPr>
          <p:cNvPr id="52" name="rodape"/>
          <p:cNvSpPr txBox="1"/>
          <p:nvPr/>
        </p:nvSpPr>
        <p:spPr>
          <a:xfrm>
            <a:off x="45720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incluso: </a:t>
            </a:r>
            <a:r>
              <a:rPr lang="pt-BR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 no Instagram e fotos ou renders da construtora.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nela Noturna">
  <a:themeElements>
    <a:clrScheme name="Janela Noturna">
      <a:dk1>
        <a:srgbClr val="111A38"/>
      </a:dk1>
      <a:lt1>
        <a:srgbClr val="FFFFFF"/>
      </a:lt1>
      <a:dk2>
        <a:srgbClr val="0F1736"/>
      </a:dk2>
      <a:lt2>
        <a:srgbClr val="EEF1F8"/>
      </a:lt2>
      <a:accent1>
        <a:srgbClr val="F2C14E"/>
      </a:accent1>
      <a:accent2>
        <a:srgbClr val="4C6FE0"/>
      </a:accent2>
      <a:accent3>
        <a:srgbClr val="5B6785"/>
      </a:accent3>
      <a:accent4>
        <a:srgbClr val="1E2B5E"/>
      </a:accent4>
      <a:accent5>
        <a:srgbClr val="F8E7B0"/>
      </a:accent5>
      <a:accent6>
        <a:srgbClr val="2B3A70"/>
      </a:accent6>
      <a:hlink>
        <a:srgbClr val="4C6FE0"/>
      </a:hlink>
      <a:folHlink>
        <a:srgbClr val="5B6785"/>
      </a:folHlink>
    </a:clrScheme>
    <a:fontScheme name="Janela Notur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landing page com tabela 3D – Leonardo</dc:title>
  <dc:subject>PptxGenJS Presentation</dc:subject>
  <dc:creator>Julio</dc:creator>
  <cp:lastModifiedBy>Julio</cp:lastModifiedBy>
  <cp:revision>1</cp:revision>
  <dcterms:created xsi:type="dcterms:W3CDTF">2026-10-16T21:39:05Z</dcterms:created>
  <dcterms:modified xsi:type="dcterms:W3CDTF">2026-10-16T21:39:05Z</dcterms:modified>
</cp:coreProperties>
</file>